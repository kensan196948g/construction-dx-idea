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13"/>
    <p:sldId id="267" r:id="rId14"/>
    <p:sldId id="268" r:id="rId1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ABDBFF"/>
    <a:srgbClr val="8FCFFF"/>
    <a:srgbClr val="6DC0FF"/>
    <a:srgbClr val="75C4FF"/>
    <a:srgbClr val="199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668" y="-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FFF3C0-2454-B17E-2EE7-51764F1453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E14142D-136E-C402-83C9-D7330EC2D3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E272FA7-EC76-9326-EBCB-4F055D167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4111A-296C-4101-A65F-778C179DF61B}" type="datetimeFigureOut">
              <a:rPr kumimoji="1" lang="ja-JP" altLang="en-US" smtClean="0"/>
              <a:t>2026/9/4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1C7A418-FB75-9477-B5C5-5027317BE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741E995-99E7-E238-028D-05A80CB5D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43F5C-42BC-4A2D-913F-2543BAF0C6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7780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306171-A31A-3D96-0C8E-DC604DE7B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7CDCF87-D98B-D4EF-FE5D-2C3FE04269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041BABA-D7DE-10AA-6555-7358327BD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4111A-296C-4101-A65F-778C179DF61B}" type="datetimeFigureOut">
              <a:rPr kumimoji="1" lang="ja-JP" altLang="en-US" smtClean="0"/>
              <a:t>2026/9/4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7F21C27-B697-BCB2-9B58-1D620AF82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40129DB-6FED-0725-BC93-99438647A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43F5C-42BC-4A2D-913F-2543BAF0C6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7276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93BE27-40D3-B62D-68D8-4861F5640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7144997-23B9-3DA2-5E7B-8D05CCAE16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E2B1678-A561-D321-9202-60552D1A4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4111A-296C-4101-A65F-778C179DF61B}" type="datetimeFigureOut">
              <a:rPr kumimoji="1" lang="ja-JP" altLang="en-US" smtClean="0"/>
              <a:t>2026/9/4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F7FB9BA-DB8D-ABC6-8796-A9C7C59DB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50EAB64-1B20-E0D2-1D82-F91D600B9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43F5C-42BC-4A2D-913F-2543BAF0C6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1603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9D63908-5B97-F2C9-C717-55EBCAB56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BA6D493-983C-5DC4-484A-1535B3B712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8B4DE13-0D74-1B4B-AED2-07863C2271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367B1B0-B959-AFD5-BBD5-3AA19D814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4111A-296C-4101-A65F-778C179DF61B}" type="datetimeFigureOut">
              <a:rPr kumimoji="1" lang="ja-JP" altLang="en-US" smtClean="0"/>
              <a:t>2026/9/4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6E4E597-5E87-2F1A-3045-7273D3A03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B8BB2A0-CC8A-A173-D5FF-EB3786E3B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43F5C-42BC-4A2D-913F-2543BAF0C6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0939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6F03C0-60BD-7507-0EB8-3A3FB4F26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E116F68-2A01-E7B1-BF5C-93EFFB00FE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D6F1DF5-8BB4-77D0-6F57-64570ADE07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2F7B862-DE8E-70A5-990A-85C1122047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19493A8-2AC0-31E6-1F57-755A04F2FD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173463F-6DB2-10FB-015B-CDC42896C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4111A-296C-4101-A65F-778C179DF61B}" type="datetimeFigureOut">
              <a:rPr kumimoji="1" lang="ja-JP" altLang="en-US" smtClean="0"/>
              <a:t>2026/9/4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6520AB1-EC2B-018C-9984-DB3A801F3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9026E0F-4205-6384-D72C-7CB552298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43F5C-42BC-4A2D-913F-2543BAF0C6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534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ED3D23F-E0EB-FB8D-913C-E205DD278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3452A1D-0389-41FF-8B1C-057718115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4111A-296C-4101-A65F-778C179DF61B}" type="datetimeFigureOut">
              <a:rPr kumimoji="1" lang="ja-JP" altLang="en-US" smtClean="0"/>
              <a:t>2026/9/4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14E47B8-D618-ECA7-CF03-125944797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A1DED78-E397-D3DD-D032-33D161E4D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43F5C-42BC-4A2D-913F-2543BAF0C6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9809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810E821-E1B3-9980-B1DB-40968BF44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4111A-296C-4101-A65F-778C179DF61B}" type="datetimeFigureOut">
              <a:rPr kumimoji="1" lang="ja-JP" altLang="en-US" smtClean="0"/>
              <a:t>2026/9/4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0FCE1B2-E5A3-C822-99C7-0588D2AA0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921CEB9-CC90-CAD4-B550-27660A398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43F5C-42BC-4A2D-913F-2543BAF0C6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007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F8A8A9-AAA8-09D7-7F94-8A334EAAF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54920EC-9AA7-AD54-6E37-9D2D331F5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5CB856A-23DC-2ACD-E654-C3D55124D4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DCE7CE2-44D6-84BC-C94B-22CCF11BE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4111A-296C-4101-A65F-778C179DF61B}" type="datetimeFigureOut">
              <a:rPr kumimoji="1" lang="ja-JP" altLang="en-US" smtClean="0"/>
              <a:t>2026/9/4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1AFD055-6255-4381-4F31-D792FE671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E716447-4203-52E5-1FAA-AB7574777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43F5C-42BC-4A2D-913F-2543BAF0C6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8289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E5A2DD-7A51-0DBB-D83D-1B5326530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DF1D50F-DB5E-3CEF-F638-46DBCA1E04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D2128B1-CE94-60B8-94DF-6F1051DF4C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3829487-3D95-1B8F-2417-9988B2C87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4111A-296C-4101-A65F-778C179DF61B}" type="datetimeFigureOut">
              <a:rPr kumimoji="1" lang="ja-JP" altLang="en-US" smtClean="0"/>
              <a:t>2026/9/4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5A98611-ED97-E2F2-4CB8-67FB94BF8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C223BE5-C9BA-57CB-F3A3-FB5401292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43F5C-42BC-4A2D-913F-2543BAF0C6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6907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95A8E8-FEC6-A84B-081E-C56ED7C8A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D4CA038-4739-D5F9-9759-A8607688FE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04DE554-82A8-2233-D8AF-5DC967639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4111A-296C-4101-A65F-778C179DF61B}" type="datetimeFigureOut">
              <a:rPr kumimoji="1" lang="ja-JP" altLang="en-US" smtClean="0"/>
              <a:t>2026/9/4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9A8B561-424E-05B2-07F2-F2B12B935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DCE1003-2380-6FF7-0AD1-D5852EE6C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43F5C-42BC-4A2D-913F-2543BAF0C6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4452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6C72E45-D25B-10A8-3B1E-73E530E099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F0F236F-6DAC-3A01-A709-23D341213B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1D85F4F-FF6E-CC78-34B9-FC1238BC2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4111A-296C-4101-A65F-778C179DF61B}" type="datetimeFigureOut">
              <a:rPr kumimoji="1" lang="ja-JP" altLang="en-US" smtClean="0"/>
              <a:t>2026/9/4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4F29722-C22A-2CA4-ED95-1F5B71F52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6A234B0-9A59-6DE9-D04F-B0863A798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43F5C-42BC-4A2D-913F-2543BAF0C6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5031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93E9690-3E32-7E9D-C836-B10819598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4B2CB1B-9C1A-B6D7-ECCE-059FCC267D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18F9D8C-4A4B-3210-F2BE-5813E1EFC8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74111A-296C-4101-A65F-778C179DF61B}" type="datetimeFigureOut">
              <a:rPr kumimoji="1" lang="ja-JP" altLang="en-US" smtClean="0"/>
              <a:t>2026/9/4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8B93C02-0883-77E4-88BC-FAA36C4EE1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3261B2B-7FBB-2E95-1E99-43DDF8AA1B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C43F5C-42BC-4A2D-913F-2543BAF0C6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8446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tmp"/><Relationship Id="rId3" Type="http://schemas.openxmlformats.org/officeDocument/2006/relationships/image" Target="../media/image11.jpg"/><Relationship Id="rId7" Type="http://schemas.openxmlformats.org/officeDocument/2006/relationships/image" Target="../media/image15.tmp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tmp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mp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tmp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tmp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tmp"/><Relationship Id="rId2" Type="http://schemas.openxmlformats.org/officeDocument/2006/relationships/image" Target="../media/image20.tmp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tm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061B2FC7-CCAE-7882-39D3-205E770DF1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" y="0"/>
            <a:ext cx="121903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119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FFDB593F-3192-5422-43FC-FB01B8741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65" y="4284"/>
            <a:ext cx="12146070" cy="684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019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40C47835-A7A3-D68A-BF04-72AD5FAF85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721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258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D7C955D2-89DB-BDDE-5F93-7B1DE5B35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3"/>
            <a:ext cx="12192000" cy="6855614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5C4A2F2-1AA4-2C3B-1161-2DDE71A38EC4}"/>
              </a:ext>
            </a:extLst>
          </p:cNvPr>
          <p:cNvSpPr txBox="1"/>
          <p:nvPr/>
        </p:nvSpPr>
        <p:spPr>
          <a:xfrm>
            <a:off x="471637" y="4764505"/>
            <a:ext cx="102124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★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AI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時代における覇権の条件＝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AI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の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『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オリジナリティ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』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と位置付けます。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ECBB9D3-307C-4A20-88FA-4596024E7577}"/>
              </a:ext>
            </a:extLst>
          </p:cNvPr>
          <p:cNvSpPr txBox="1"/>
          <p:nvPr/>
        </p:nvSpPr>
        <p:spPr>
          <a:xfrm>
            <a:off x="574309" y="5263599"/>
            <a:ext cx="111075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b="1" dirty="0"/>
              <a:t>今後、</a:t>
            </a:r>
            <a:r>
              <a:rPr lang="en-US" altLang="ja-JP" sz="2000" b="1" dirty="0"/>
              <a:t>AI</a:t>
            </a:r>
            <a:r>
              <a:rPr lang="ja-JP" altLang="en-US" sz="2000" b="1" dirty="0"/>
              <a:t>は</a:t>
            </a:r>
            <a:r>
              <a:rPr lang="en-US" altLang="ja-JP" sz="2000" b="1" dirty="0"/>
              <a:t>100</a:t>
            </a:r>
            <a:r>
              <a:rPr lang="ja-JP" altLang="en-US" sz="2000" b="1" dirty="0"/>
              <a:t>兆体以上のエージェントが、生まれることが予測されています。</a:t>
            </a:r>
            <a:endParaRPr kumimoji="1" lang="ja-JP" altLang="en-US" sz="2000" b="1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A8C86B5-C119-9650-23B1-840683D07A7A}"/>
              </a:ext>
            </a:extLst>
          </p:cNvPr>
          <p:cNvSpPr txBox="1"/>
          <p:nvPr/>
        </p:nvSpPr>
        <p:spPr>
          <a:xfrm>
            <a:off x="612809" y="5595212"/>
            <a:ext cx="111075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b="1" dirty="0"/>
              <a:t>その</a:t>
            </a:r>
            <a:r>
              <a:rPr lang="ja-JP" altLang="en-US" sz="1600" b="1" dirty="0"/>
              <a:t>際に</a:t>
            </a:r>
            <a:r>
              <a:rPr kumimoji="1" lang="ja-JP" altLang="en-US" sz="1600" b="1" dirty="0"/>
              <a:t>重要なのは、会社が</a:t>
            </a:r>
            <a:r>
              <a:rPr kumimoji="1" lang="ja-JP" altLang="en-US" sz="1600" b="1" dirty="0">
                <a:solidFill>
                  <a:srgbClr val="FF0000"/>
                </a:solidFill>
              </a:rPr>
              <a:t>これまで紡いできた技術</a:t>
            </a:r>
            <a:r>
              <a:rPr kumimoji="1" lang="ja-JP" altLang="en-US" sz="1600" b="1" dirty="0"/>
              <a:t>を、</a:t>
            </a:r>
            <a:r>
              <a:rPr kumimoji="1" lang="ja-JP" altLang="en-US" sz="1600" b="1" u="sng" dirty="0"/>
              <a:t>継承したエージェントを保有できているか</a:t>
            </a:r>
            <a:r>
              <a:rPr kumimoji="1" lang="ja-JP" altLang="en-US" sz="1600" b="1" dirty="0"/>
              <a:t>が争点になると考えます。これは単に、ナレッジを保有していれば良いというわけではなく、自社の持つ</a:t>
            </a:r>
            <a:r>
              <a:rPr kumimoji="1" lang="en-US" altLang="ja-JP" sz="1600" b="1" dirty="0">
                <a:solidFill>
                  <a:srgbClr val="FF0000"/>
                </a:solidFill>
              </a:rPr>
              <a:t>『</a:t>
            </a:r>
            <a:r>
              <a:rPr kumimoji="1" lang="ja-JP" altLang="en-US" sz="1600" b="1" dirty="0">
                <a:solidFill>
                  <a:srgbClr val="FF0000"/>
                </a:solidFill>
              </a:rPr>
              <a:t>勝ちのノウハウ</a:t>
            </a:r>
            <a:r>
              <a:rPr kumimoji="1" lang="en-US" altLang="ja-JP" sz="1600" b="1" dirty="0">
                <a:solidFill>
                  <a:srgbClr val="FF0000"/>
                </a:solidFill>
              </a:rPr>
              <a:t>』</a:t>
            </a:r>
            <a:r>
              <a:rPr kumimoji="1" lang="ja-JP" altLang="en-US" sz="1600" b="1" dirty="0">
                <a:solidFill>
                  <a:srgbClr val="FF0000"/>
                </a:solidFill>
              </a:rPr>
              <a:t>を</a:t>
            </a:r>
            <a:r>
              <a:rPr kumimoji="1" lang="en-US" altLang="ja-JP" sz="1600" b="1" dirty="0">
                <a:solidFill>
                  <a:srgbClr val="FF0000"/>
                </a:solidFill>
              </a:rPr>
              <a:t>AI</a:t>
            </a:r>
            <a:r>
              <a:rPr kumimoji="1" lang="ja-JP" altLang="en-US" sz="1600" b="1" dirty="0">
                <a:solidFill>
                  <a:srgbClr val="FF0000"/>
                </a:solidFill>
              </a:rPr>
              <a:t>と伴に練り上げ、磨き上げれるか。日々の業務を通じてエージェントを育成できるかが</a:t>
            </a:r>
            <a:r>
              <a:rPr kumimoji="1" lang="ja-JP" altLang="en-US" sz="1600" b="1" dirty="0"/>
              <a:t>重要だと考えています。</a:t>
            </a:r>
          </a:p>
        </p:txBody>
      </p:sp>
    </p:spTree>
    <p:extLst>
      <p:ext uri="{BB962C8B-B14F-4D97-AF65-F5344CB8AC3E}">
        <p14:creationId xmlns:p14="http://schemas.microsoft.com/office/powerpoint/2010/main" val="2459759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A552B628-1124-70C3-B1AA-A356050E1B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419602"/>
            <a:ext cx="11615057" cy="5598483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1AA35C7-5E20-3B3E-D4AC-8B552BA84091}"/>
              </a:ext>
            </a:extLst>
          </p:cNvPr>
          <p:cNvSpPr txBox="1"/>
          <p:nvPr/>
        </p:nvSpPr>
        <p:spPr>
          <a:xfrm>
            <a:off x="11405507" y="6438398"/>
            <a:ext cx="6667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100" dirty="0">
                <a:solidFill>
                  <a:schemeClr val="bg1">
                    <a:lumMod val="65000"/>
                  </a:schemeClr>
                </a:solidFill>
              </a:rPr>
              <a:t>5/10</a:t>
            </a:r>
            <a:endParaRPr kumimoji="1" lang="ja-JP" altLang="en-US" sz="11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278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84B8D4D8-D2D8-D02A-C904-533FBDA587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360"/>
            <a:ext cx="12192000" cy="6851504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74EDE33-D6CA-1F4F-0987-908231B2176E}"/>
              </a:ext>
            </a:extLst>
          </p:cNvPr>
          <p:cNvSpPr txBox="1"/>
          <p:nvPr/>
        </p:nvSpPr>
        <p:spPr>
          <a:xfrm>
            <a:off x="308675" y="248607"/>
            <a:ext cx="260392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000" b="1" dirty="0">
                <a:solidFill>
                  <a:schemeClr val="accent1">
                    <a:lumMod val="50000"/>
                  </a:schemeClr>
                </a:solidFill>
                <a:latin typeface="AR P丸ゴシック体E" panose="020F0900000000000000" pitchFamily="50" charset="-128"/>
                <a:ea typeface="AR P丸ゴシック体E" panose="020F0900000000000000" pitchFamily="50" charset="-128"/>
              </a:rPr>
              <a:t>5</a:t>
            </a:r>
            <a:endParaRPr kumimoji="1" lang="ja-JP" altLang="en-US" sz="2000" b="1" dirty="0">
              <a:solidFill>
                <a:schemeClr val="accent1">
                  <a:lumMod val="50000"/>
                </a:schemeClr>
              </a:solidFill>
              <a:latin typeface="AR P丸ゴシック体E" panose="020F0900000000000000" pitchFamily="50" charset="-128"/>
              <a:ea typeface="AR P丸ゴシック体E" panose="020F09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F371861-5CD0-1986-8C60-A67BE115033C}"/>
              </a:ext>
            </a:extLst>
          </p:cNvPr>
          <p:cNvSpPr txBox="1"/>
          <p:nvPr/>
        </p:nvSpPr>
        <p:spPr>
          <a:xfrm>
            <a:off x="11405507" y="6438398"/>
            <a:ext cx="6667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100" dirty="0">
                <a:solidFill>
                  <a:schemeClr val="bg1">
                    <a:lumMod val="65000"/>
                  </a:schemeClr>
                </a:solidFill>
              </a:rPr>
              <a:t>6-A</a:t>
            </a:r>
            <a:r>
              <a:rPr kumimoji="1" lang="en-US" altLang="ja-JP" sz="1100" dirty="0">
                <a:solidFill>
                  <a:schemeClr val="bg1">
                    <a:lumMod val="65000"/>
                  </a:schemeClr>
                </a:solidFill>
              </a:rPr>
              <a:t>/10</a:t>
            </a:r>
            <a:endParaRPr kumimoji="1" lang="ja-JP" altLang="en-US" sz="11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1162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09619A9A-86C5-F6E2-D09F-51C2714E1F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1" y="0"/>
            <a:ext cx="12169977" cy="6858000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BAB31D1-7D66-76F5-E554-D96E2A2BBCFB}"/>
              </a:ext>
            </a:extLst>
          </p:cNvPr>
          <p:cNvSpPr txBox="1"/>
          <p:nvPr/>
        </p:nvSpPr>
        <p:spPr>
          <a:xfrm>
            <a:off x="11405507" y="6438398"/>
            <a:ext cx="6667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100" dirty="0">
                <a:solidFill>
                  <a:schemeClr val="bg1">
                    <a:lumMod val="65000"/>
                  </a:schemeClr>
                </a:solidFill>
              </a:rPr>
              <a:t>6-B</a:t>
            </a:r>
            <a:r>
              <a:rPr kumimoji="1" lang="en-US" altLang="ja-JP" sz="1100" dirty="0">
                <a:solidFill>
                  <a:schemeClr val="bg1">
                    <a:lumMod val="65000"/>
                  </a:schemeClr>
                </a:solidFill>
              </a:rPr>
              <a:t>/10</a:t>
            </a:r>
            <a:endParaRPr kumimoji="1" lang="ja-JP" altLang="en-US" sz="11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7666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B63540A3-DBF7-91B1-6F24-9CEFB97294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901"/>
            <a:ext cx="12192000" cy="6820198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32C32D42-6A7B-F862-7429-5A7163B4DD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33" b="13637"/>
          <a:stretch>
            <a:fillRect/>
          </a:stretch>
        </p:blipFill>
        <p:spPr>
          <a:xfrm>
            <a:off x="463215" y="4746171"/>
            <a:ext cx="3995395" cy="1970315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D1E4CE6-675D-6BAA-6F88-12A460F40CF3}"/>
              </a:ext>
            </a:extLst>
          </p:cNvPr>
          <p:cNvSpPr txBox="1"/>
          <p:nvPr/>
        </p:nvSpPr>
        <p:spPr>
          <a:xfrm>
            <a:off x="11405507" y="6438398"/>
            <a:ext cx="6667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100" dirty="0">
                <a:solidFill>
                  <a:schemeClr val="bg1">
                    <a:lumMod val="65000"/>
                  </a:schemeClr>
                </a:solidFill>
              </a:rPr>
              <a:t>6-C</a:t>
            </a:r>
            <a:r>
              <a:rPr kumimoji="1" lang="en-US" altLang="ja-JP" sz="1100" dirty="0">
                <a:solidFill>
                  <a:schemeClr val="bg1">
                    <a:lumMod val="65000"/>
                  </a:schemeClr>
                </a:solidFill>
              </a:rPr>
              <a:t>/10</a:t>
            </a:r>
            <a:endParaRPr kumimoji="1" lang="ja-JP" altLang="en-US" sz="11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0404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0E2A145D-E296-DBBD-6224-9D3E9E6EDA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6598" y="120136"/>
            <a:ext cx="2935060" cy="62782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DC0C047B-BD97-7186-2785-44FE55FAAC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844"/>
          <a:stretch>
            <a:fillRect/>
          </a:stretch>
        </p:blipFill>
        <p:spPr>
          <a:xfrm>
            <a:off x="562360" y="1225117"/>
            <a:ext cx="4383537" cy="2739570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73E09CC-ABDB-745B-16F1-CAEB8C66926C}"/>
              </a:ext>
            </a:extLst>
          </p:cNvPr>
          <p:cNvSpPr txBox="1"/>
          <p:nvPr/>
        </p:nvSpPr>
        <p:spPr>
          <a:xfrm>
            <a:off x="435090" y="296174"/>
            <a:ext cx="783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別表</a:t>
            </a:r>
            <a:r>
              <a:rPr kumimoji="1" lang="en-US" altLang="ja-JP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</a:t>
            </a:r>
            <a:endParaRPr kumimoji="1" lang="ja-JP" altLang="en-US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20A095EC-EEAC-5D3B-5446-4756F3090A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185"/>
          <a:stretch>
            <a:fillRect/>
          </a:stretch>
        </p:blipFill>
        <p:spPr>
          <a:xfrm>
            <a:off x="6201253" y="1215511"/>
            <a:ext cx="5041107" cy="1379391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BD236D60-FE30-4C10-38D6-553E2E95E5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0445" y="221065"/>
            <a:ext cx="2721083" cy="499281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346FCCC4-DEDF-6C6C-70BA-11938D2EECA1}"/>
              </a:ext>
            </a:extLst>
          </p:cNvPr>
          <p:cNvSpPr txBox="1"/>
          <p:nvPr/>
        </p:nvSpPr>
        <p:spPr>
          <a:xfrm>
            <a:off x="6031200" y="265314"/>
            <a:ext cx="783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別表</a:t>
            </a:r>
            <a:r>
              <a:rPr lang="en-US" altLang="ja-JP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2</a:t>
            </a:r>
            <a:endParaRPr kumimoji="1" lang="ja-JP" altLang="en-US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9779D06-7B21-3C1A-9B53-9A59EB9905E6}"/>
              </a:ext>
            </a:extLst>
          </p:cNvPr>
          <p:cNvSpPr txBox="1"/>
          <p:nvPr/>
        </p:nvSpPr>
        <p:spPr>
          <a:xfrm>
            <a:off x="6038748" y="666889"/>
            <a:ext cx="59544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レッドラインについては、通常の承認プロセスとは切り分け、追加対策、専門部門による審査、必要に応じて経営判断を仰ぐ</a:t>
            </a:r>
            <a:r>
              <a:rPr lang="ja-JP" altLang="en-US" sz="1400" dirty="0"/>
              <a:t>。</a:t>
            </a:r>
            <a:endParaRPr kumimoji="1" lang="en-US" altLang="ja-JP" sz="1400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25D89629-1191-31D0-8B9B-0ED9F0BD335C}"/>
              </a:ext>
            </a:extLst>
          </p:cNvPr>
          <p:cNvSpPr txBox="1"/>
          <p:nvPr/>
        </p:nvSpPr>
        <p:spPr>
          <a:xfrm>
            <a:off x="588555" y="666889"/>
            <a:ext cx="44998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リスク区分ごとに承認レベルを定義し、誰が評価し、</a:t>
            </a:r>
            <a:endParaRPr kumimoji="1" lang="en-US" altLang="ja-JP" sz="1400" dirty="0"/>
          </a:p>
          <a:p>
            <a:r>
              <a:rPr kumimoji="1" lang="ja-JP" altLang="en-US" sz="1400" dirty="0"/>
              <a:t>誰が承認するのかを明確化する</a:t>
            </a:r>
            <a:r>
              <a:rPr lang="ja-JP" altLang="en-US" sz="1400" dirty="0"/>
              <a:t>。</a:t>
            </a:r>
            <a:endParaRPr kumimoji="1" lang="en-US" altLang="ja-JP" sz="1400" dirty="0"/>
          </a:p>
        </p:txBody>
      </p:sp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8371054D-6FFB-0606-9D38-FC57BB412E68}"/>
              </a:ext>
            </a:extLst>
          </p:cNvPr>
          <p:cNvGrpSpPr/>
          <p:nvPr/>
        </p:nvGrpSpPr>
        <p:grpSpPr>
          <a:xfrm>
            <a:off x="5955882" y="2662032"/>
            <a:ext cx="2545838" cy="1745265"/>
            <a:chOff x="5039064" y="3154992"/>
            <a:chExt cx="2808514" cy="2019272"/>
          </a:xfrm>
        </p:grpSpPr>
        <p:pic>
          <p:nvPicPr>
            <p:cNvPr id="17" name="図 16">
              <a:extLst>
                <a:ext uri="{FF2B5EF4-FFF2-40B4-BE49-F238E27FC236}">
                  <a16:creationId xmlns:a16="http://schemas.microsoft.com/office/drawing/2014/main" id="{EB69D6C2-2E97-D56E-F769-1AD0556522A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001" t="38606" r="46965" b="55873"/>
            <a:stretch>
              <a:fillRect/>
            </a:stretch>
          </p:blipFill>
          <p:spPr>
            <a:xfrm>
              <a:off x="5317668" y="3154992"/>
              <a:ext cx="1404257" cy="353431"/>
            </a:xfrm>
            <a:prstGeom prst="rect">
              <a:avLst/>
            </a:prstGeom>
          </p:spPr>
        </p:pic>
        <p:pic>
          <p:nvPicPr>
            <p:cNvPr id="18" name="図 17">
              <a:extLst>
                <a:ext uri="{FF2B5EF4-FFF2-40B4-BE49-F238E27FC236}">
                  <a16:creationId xmlns:a16="http://schemas.microsoft.com/office/drawing/2014/main" id="{5B73AC2B-4A10-1866-1AAA-67FC9C1C7FE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966" t="45784" r="46965" b="26951"/>
            <a:stretch>
              <a:fillRect/>
            </a:stretch>
          </p:blipFill>
          <p:spPr>
            <a:xfrm>
              <a:off x="5039064" y="3429000"/>
              <a:ext cx="2808514" cy="1745264"/>
            </a:xfrm>
            <a:prstGeom prst="rect">
              <a:avLst/>
            </a:prstGeom>
          </p:spPr>
        </p:pic>
      </p:grp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B09AEF3E-C0D3-4257-2202-0120243AC4C9}"/>
              </a:ext>
            </a:extLst>
          </p:cNvPr>
          <p:cNvGrpSpPr/>
          <p:nvPr/>
        </p:nvGrpSpPr>
        <p:grpSpPr>
          <a:xfrm>
            <a:off x="8626340" y="2666470"/>
            <a:ext cx="2987901" cy="1804506"/>
            <a:chOff x="7456975" y="3196471"/>
            <a:chExt cx="3455726" cy="2100593"/>
          </a:xfrm>
        </p:grpSpPr>
        <p:pic>
          <p:nvPicPr>
            <p:cNvPr id="20" name="図 19">
              <a:extLst>
                <a:ext uri="{FF2B5EF4-FFF2-40B4-BE49-F238E27FC236}">
                  <a16:creationId xmlns:a16="http://schemas.microsoft.com/office/drawing/2014/main" id="{217372A1-F924-2B83-8BED-68D906D0829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273" t="25542" r="29853" b="47193"/>
            <a:stretch>
              <a:fillRect/>
            </a:stretch>
          </p:blipFill>
          <p:spPr>
            <a:xfrm>
              <a:off x="7567390" y="3551800"/>
              <a:ext cx="3345311" cy="1745264"/>
            </a:xfrm>
            <a:prstGeom prst="rect">
              <a:avLst/>
            </a:prstGeom>
          </p:spPr>
        </p:pic>
        <p:pic>
          <p:nvPicPr>
            <p:cNvPr id="22" name="図 21">
              <a:extLst>
                <a:ext uri="{FF2B5EF4-FFF2-40B4-BE49-F238E27FC236}">
                  <a16:creationId xmlns:a16="http://schemas.microsoft.com/office/drawing/2014/main" id="{8782A7E4-BB51-34D7-7B4C-DFCE1E94A2D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810" t="17059" r="37911" b="78412"/>
            <a:stretch>
              <a:fillRect/>
            </a:stretch>
          </p:blipFill>
          <p:spPr>
            <a:xfrm>
              <a:off x="7456975" y="3196471"/>
              <a:ext cx="1906859" cy="289932"/>
            </a:xfrm>
            <a:prstGeom prst="rect">
              <a:avLst/>
            </a:prstGeom>
          </p:spPr>
        </p:pic>
      </p:grp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9129FD36-2EAE-0FF6-B96F-A51C0B133AC6}"/>
              </a:ext>
            </a:extLst>
          </p:cNvPr>
          <p:cNvGrpSpPr/>
          <p:nvPr/>
        </p:nvGrpSpPr>
        <p:grpSpPr>
          <a:xfrm>
            <a:off x="6291600" y="4596229"/>
            <a:ext cx="1890320" cy="2101711"/>
            <a:chOff x="3177999" y="4423768"/>
            <a:chExt cx="2128387" cy="2453603"/>
          </a:xfrm>
        </p:grpSpPr>
        <p:pic>
          <p:nvPicPr>
            <p:cNvPr id="21" name="図 20">
              <a:extLst>
                <a:ext uri="{FF2B5EF4-FFF2-40B4-BE49-F238E27FC236}">
                  <a16:creationId xmlns:a16="http://schemas.microsoft.com/office/drawing/2014/main" id="{31AE72E5-F50D-1E67-629E-D91EC55B15B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962" t="61125" r="52182" b="4808"/>
            <a:stretch>
              <a:fillRect/>
            </a:stretch>
          </p:blipFill>
          <p:spPr>
            <a:xfrm>
              <a:off x="3303414" y="4696678"/>
              <a:ext cx="2002972" cy="2180693"/>
            </a:xfrm>
            <a:prstGeom prst="rect">
              <a:avLst/>
            </a:prstGeom>
          </p:spPr>
        </p:pic>
        <p:pic>
          <p:nvPicPr>
            <p:cNvPr id="23" name="図 22">
              <a:extLst>
                <a:ext uri="{FF2B5EF4-FFF2-40B4-BE49-F238E27FC236}">
                  <a16:creationId xmlns:a16="http://schemas.microsoft.com/office/drawing/2014/main" id="{6894D0A3-A8C0-31CA-AEDE-6F6CB87F872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416" t="54663" r="45242" b="39816"/>
            <a:stretch>
              <a:fillRect/>
            </a:stretch>
          </p:blipFill>
          <p:spPr>
            <a:xfrm>
              <a:off x="3177999" y="4423768"/>
              <a:ext cx="1483959" cy="353432"/>
            </a:xfrm>
            <a:prstGeom prst="rect">
              <a:avLst/>
            </a:prstGeom>
          </p:spPr>
        </p:pic>
      </p:grp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DCBA4C19-CE14-FD13-5073-46D8B7F098C8}"/>
              </a:ext>
            </a:extLst>
          </p:cNvPr>
          <p:cNvGrpSpPr/>
          <p:nvPr/>
        </p:nvGrpSpPr>
        <p:grpSpPr>
          <a:xfrm>
            <a:off x="8626340" y="4641974"/>
            <a:ext cx="2737878" cy="2133650"/>
            <a:chOff x="7581595" y="4714558"/>
            <a:chExt cx="2737878" cy="2133650"/>
          </a:xfrm>
        </p:grpSpPr>
        <p:pic>
          <p:nvPicPr>
            <p:cNvPr id="29" name="図 28">
              <a:extLst>
                <a:ext uri="{FF2B5EF4-FFF2-40B4-BE49-F238E27FC236}">
                  <a16:creationId xmlns:a16="http://schemas.microsoft.com/office/drawing/2014/main" id="{F32C5B8E-621D-DEA8-5E98-C6830AFAF30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541" t="46083" r="37546" b="21940"/>
            <a:stretch>
              <a:fillRect/>
            </a:stretch>
          </p:blipFill>
          <p:spPr>
            <a:xfrm>
              <a:off x="7709522" y="4980267"/>
              <a:ext cx="2609951" cy="1867941"/>
            </a:xfrm>
            <a:prstGeom prst="rect">
              <a:avLst/>
            </a:prstGeom>
          </p:spPr>
        </p:pic>
        <p:pic>
          <p:nvPicPr>
            <p:cNvPr id="30" name="図 29">
              <a:extLst>
                <a:ext uri="{FF2B5EF4-FFF2-40B4-BE49-F238E27FC236}">
                  <a16:creationId xmlns:a16="http://schemas.microsoft.com/office/drawing/2014/main" id="{02349899-41F8-B7FD-5A63-CC2B808B49B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255" t="39298" r="37893" b="56777"/>
            <a:stretch>
              <a:fillRect/>
            </a:stretch>
          </p:blipFill>
          <p:spPr>
            <a:xfrm>
              <a:off x="7581595" y="4714558"/>
              <a:ext cx="1648715" cy="220215"/>
            </a:xfrm>
            <a:prstGeom prst="rect">
              <a:avLst/>
            </a:prstGeom>
          </p:spPr>
        </p:pic>
      </p:grpSp>
      <p:graphicFrame>
        <p:nvGraphicFramePr>
          <p:cNvPr id="33" name="表 32">
            <a:extLst>
              <a:ext uri="{FF2B5EF4-FFF2-40B4-BE49-F238E27FC236}">
                <a16:creationId xmlns:a16="http://schemas.microsoft.com/office/drawing/2014/main" id="{E6E3AF97-5F1C-B08D-65EE-0E99ED9E97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9947179"/>
              </p:ext>
            </p:extLst>
          </p:nvPr>
        </p:nvGraphicFramePr>
        <p:xfrm>
          <a:off x="653528" y="3908748"/>
          <a:ext cx="4270598" cy="237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5299">
                  <a:extLst>
                    <a:ext uri="{9D8B030D-6E8A-4147-A177-3AD203B41FA5}">
                      <a16:colId xmlns:a16="http://schemas.microsoft.com/office/drawing/2014/main" val="2169874979"/>
                    </a:ext>
                  </a:extLst>
                </a:gridCol>
                <a:gridCol w="2135299">
                  <a:extLst>
                    <a:ext uri="{9D8B030D-6E8A-4147-A177-3AD203B41FA5}">
                      <a16:colId xmlns:a16="http://schemas.microsoft.com/office/drawing/2014/main" val="8780588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役割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承認者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51948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システム担当兼責任者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有藤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7896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業務責任者</a:t>
                      </a:r>
                    </a:p>
                  </a:txBody>
                  <a:tcPr anchor="ctr">
                    <a:solidFill>
                      <a:srgbClr val="ABD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施工・技術：小堀</a:t>
                      </a:r>
                      <a:endParaRPr kumimoji="1" lang="en-US" altLang="ja-JP" sz="1400" dirty="0"/>
                    </a:p>
                    <a:p>
                      <a:pPr algn="ctr"/>
                      <a:r>
                        <a:rPr kumimoji="1" lang="ja-JP" altLang="en-US" sz="1400" dirty="0"/>
                        <a:t>営業・管理：安部</a:t>
                      </a:r>
                    </a:p>
                  </a:txBody>
                  <a:tcPr anchor="ctr">
                    <a:solidFill>
                      <a:srgbClr val="ABD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14625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/>
                        <a:t>AI</a:t>
                      </a:r>
                      <a:r>
                        <a:rPr kumimoji="1" lang="ja-JP" altLang="en-US" sz="1400" dirty="0"/>
                        <a:t>ガバナンス責任者</a:t>
                      </a:r>
                    </a:p>
                  </a:txBody>
                  <a:tcPr anchor="ctr">
                    <a:solidFill>
                      <a:srgbClr val="6DC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有藤・安部・小堀</a:t>
                      </a:r>
                    </a:p>
                  </a:txBody>
                  <a:tcPr anchor="ctr">
                    <a:solidFill>
                      <a:srgbClr val="6DC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9012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部門責任者</a:t>
                      </a:r>
                    </a:p>
                  </a:txBody>
                  <a:tcPr anchor="ctr">
                    <a:solidFill>
                      <a:srgbClr val="199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本部長</a:t>
                      </a:r>
                    </a:p>
                  </a:txBody>
                  <a:tcPr anchor="ctr">
                    <a:solidFill>
                      <a:srgbClr val="199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2863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>
                          <a:solidFill>
                            <a:schemeClr val="bg1"/>
                          </a:solidFill>
                        </a:rPr>
                        <a:t>専門部門審査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solidFill>
                            <a:schemeClr val="bg1"/>
                          </a:solidFill>
                        </a:rPr>
                        <a:t>TF</a:t>
                      </a:r>
                      <a:r>
                        <a:rPr kumimoji="1" lang="ja-JP" altLang="en-US" sz="1400" dirty="0">
                          <a:solidFill>
                            <a:schemeClr val="bg1"/>
                          </a:solidFill>
                        </a:rPr>
                        <a:t>（主に顧問）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3212022"/>
                  </a:ext>
                </a:extLst>
              </a:tr>
            </a:tbl>
          </a:graphicData>
        </a:graphic>
      </p:graphicFrame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B8D5D90A-886C-4910-E398-257F8F51D16F}"/>
              </a:ext>
            </a:extLst>
          </p:cNvPr>
          <p:cNvCxnSpPr/>
          <p:nvPr/>
        </p:nvCxnSpPr>
        <p:spPr>
          <a:xfrm>
            <a:off x="5586051" y="261258"/>
            <a:ext cx="0" cy="6517977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7A3A0A83-94B1-6D99-C22F-BFD027590BB3}"/>
              </a:ext>
            </a:extLst>
          </p:cNvPr>
          <p:cNvSpPr txBox="1"/>
          <p:nvPr/>
        </p:nvSpPr>
        <p:spPr>
          <a:xfrm>
            <a:off x="3985462" y="6302418"/>
            <a:ext cx="1420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/>
              <a:t>※</a:t>
            </a:r>
            <a:r>
              <a:rPr kumimoji="1" lang="ja-JP" altLang="en-US" sz="1400" dirty="0"/>
              <a:t>暫定案</a:t>
            </a:r>
            <a:endParaRPr kumimoji="1" lang="en-US" altLang="ja-JP" sz="1400" dirty="0"/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08F0C8BA-AD39-EC8D-FCB7-97732B325CE0}"/>
              </a:ext>
            </a:extLst>
          </p:cNvPr>
          <p:cNvSpPr txBox="1"/>
          <p:nvPr/>
        </p:nvSpPr>
        <p:spPr>
          <a:xfrm>
            <a:off x="11405507" y="6438398"/>
            <a:ext cx="6667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100" dirty="0">
                <a:solidFill>
                  <a:schemeClr val="bg1">
                    <a:lumMod val="65000"/>
                  </a:schemeClr>
                </a:solidFill>
              </a:rPr>
              <a:t>6-D</a:t>
            </a:r>
            <a:r>
              <a:rPr kumimoji="1" lang="en-US" altLang="ja-JP" sz="1100" dirty="0">
                <a:solidFill>
                  <a:schemeClr val="bg1">
                    <a:lumMod val="65000"/>
                  </a:schemeClr>
                </a:solidFill>
              </a:rPr>
              <a:t>/10</a:t>
            </a:r>
            <a:endParaRPr kumimoji="1" lang="ja-JP" altLang="en-US" sz="11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59324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219B5FEB-6BDA-61F5-F2A9-AC217C61F6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41536" cy="6828027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27E2CB9-0E97-36DC-FDE4-AF2573007C3B}"/>
              </a:ext>
            </a:extLst>
          </p:cNvPr>
          <p:cNvSpPr txBox="1"/>
          <p:nvPr/>
        </p:nvSpPr>
        <p:spPr>
          <a:xfrm>
            <a:off x="502454" y="363663"/>
            <a:ext cx="351389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2000" b="1" dirty="0">
                <a:solidFill>
                  <a:schemeClr val="accent1">
                    <a:lumMod val="50000"/>
                  </a:schemeClr>
                </a:solidFill>
                <a:latin typeface="AR P丸ゴシック体E" panose="020F0900000000000000" pitchFamily="50" charset="-128"/>
                <a:ea typeface="AR P丸ゴシック体E" panose="020F0900000000000000" pitchFamily="50" charset="-128"/>
              </a:rPr>
              <a:t>６．</a:t>
            </a:r>
            <a:endParaRPr kumimoji="1" lang="ja-JP" altLang="en-US" sz="2000" b="1" dirty="0">
              <a:solidFill>
                <a:schemeClr val="accent1">
                  <a:lumMod val="50000"/>
                </a:schemeClr>
              </a:solidFill>
              <a:latin typeface="AR P丸ゴシック体E" panose="020F0900000000000000" pitchFamily="50" charset="-128"/>
              <a:ea typeface="AR P丸ゴシック体E" panose="020F09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58B02E8-C636-BCDE-D929-0B937FC22E8E}"/>
              </a:ext>
            </a:extLst>
          </p:cNvPr>
          <p:cNvSpPr txBox="1"/>
          <p:nvPr/>
        </p:nvSpPr>
        <p:spPr>
          <a:xfrm>
            <a:off x="586477" y="3216166"/>
            <a:ext cx="25350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b="1" dirty="0">
                <a:solidFill>
                  <a:srgbClr val="FF0000"/>
                </a:solidFill>
              </a:rPr>
              <a:t>コアタイムな時間確保ではなく、</a:t>
            </a:r>
            <a:r>
              <a:rPr lang="ja-JP" altLang="en-US" sz="1200" b="1" dirty="0">
                <a:solidFill>
                  <a:srgbClr val="FF0000"/>
                </a:solidFill>
              </a:rPr>
              <a:t>本業務の合間、週</a:t>
            </a:r>
            <a:r>
              <a:rPr lang="en-US" altLang="ja-JP" sz="1200" b="1" dirty="0">
                <a:solidFill>
                  <a:srgbClr val="FF0000"/>
                </a:solidFill>
              </a:rPr>
              <a:t>2</a:t>
            </a:r>
            <a:r>
              <a:rPr lang="ja-JP" altLang="en-US" sz="1200" b="1" dirty="0">
                <a:solidFill>
                  <a:srgbClr val="FF0000"/>
                </a:solidFill>
              </a:rPr>
              <a:t>時間程度</a:t>
            </a:r>
            <a:endParaRPr kumimoji="1" lang="ja-JP" altLang="en-US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52416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36FC768-5549-D1E1-F3CE-279D98F1A314}"/>
              </a:ext>
            </a:extLst>
          </p:cNvPr>
          <p:cNvSpPr txBox="1"/>
          <p:nvPr/>
        </p:nvSpPr>
        <p:spPr>
          <a:xfrm>
            <a:off x="193780" y="387885"/>
            <a:ext cx="2561529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2000" b="1" dirty="0">
                <a:solidFill>
                  <a:schemeClr val="accent1">
                    <a:lumMod val="5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７．システム開発環境</a:t>
            </a:r>
            <a:endParaRPr kumimoji="1" lang="ja-JP" altLang="en-US" sz="2000" b="1" dirty="0">
              <a:solidFill>
                <a:schemeClr val="accent1">
                  <a:lumMod val="50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3A3DCD76-DBCB-2367-B4C9-EB5A6CA58D62}"/>
              </a:ext>
            </a:extLst>
          </p:cNvPr>
          <p:cNvGrpSpPr/>
          <p:nvPr/>
        </p:nvGrpSpPr>
        <p:grpSpPr>
          <a:xfrm>
            <a:off x="284532" y="1140553"/>
            <a:ext cx="8810796" cy="5194567"/>
            <a:chOff x="865523" y="1140553"/>
            <a:chExt cx="8810796" cy="5194567"/>
          </a:xfrm>
        </p:grpSpPr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CF80AF54-5573-B5A0-222B-F5A8B5B4E0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1773" y="1140553"/>
              <a:ext cx="8674546" cy="5194567"/>
            </a:xfrm>
            <a:prstGeom prst="rect">
              <a:avLst/>
            </a:prstGeom>
          </p:spPr>
        </p:pic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15615B2B-1950-5F44-8BC2-D6EDE01A6379}"/>
                </a:ext>
              </a:extLst>
            </p:cNvPr>
            <p:cNvSpPr txBox="1"/>
            <p:nvPr/>
          </p:nvSpPr>
          <p:spPr>
            <a:xfrm>
              <a:off x="865523" y="1140553"/>
              <a:ext cx="2731088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kumimoji="1" lang="ja-JP" altLang="en-US" b="1" dirty="0"/>
                <a:t>開発フロー</a:t>
              </a:r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20FC23D4-5F10-FC89-BE74-2782351EF5E0}"/>
                </a:ext>
              </a:extLst>
            </p:cNvPr>
            <p:cNvSpPr txBox="1"/>
            <p:nvPr/>
          </p:nvSpPr>
          <p:spPr>
            <a:xfrm>
              <a:off x="865523" y="3737836"/>
              <a:ext cx="2731088" cy="64633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ja-JP" altLang="en-US" b="1" dirty="0"/>
                <a:t>システム全体構成</a:t>
              </a:r>
              <a:endParaRPr kumimoji="1" lang="en-US" altLang="ja-JP" b="1" dirty="0"/>
            </a:p>
            <a:p>
              <a:endParaRPr kumimoji="1" lang="ja-JP" altLang="en-US" b="1" dirty="0"/>
            </a:p>
          </p:txBody>
        </p:sp>
      </p:grp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FBE901C-7B2E-666D-B711-F26697239607}"/>
              </a:ext>
            </a:extLst>
          </p:cNvPr>
          <p:cNvSpPr txBox="1"/>
          <p:nvPr/>
        </p:nvSpPr>
        <p:spPr>
          <a:xfrm>
            <a:off x="9095328" y="1719799"/>
            <a:ext cx="2149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AI</a:t>
            </a:r>
            <a:r>
              <a:rPr lang="ja-JP" altLang="en-US" dirty="0"/>
              <a:t>コーディング</a:t>
            </a:r>
            <a:endParaRPr kumimoji="1" lang="ja-JP" altLang="en-US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C3C995E-17C8-DAF4-737A-F70E09DEBDAF}"/>
              </a:ext>
            </a:extLst>
          </p:cNvPr>
          <p:cNvSpPr txBox="1"/>
          <p:nvPr/>
        </p:nvSpPr>
        <p:spPr>
          <a:xfrm>
            <a:off x="9095328" y="2355640"/>
            <a:ext cx="2149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開発スペース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CD8F3CA-C576-A888-C737-862950666BC8}"/>
              </a:ext>
            </a:extLst>
          </p:cNvPr>
          <p:cNvSpPr txBox="1"/>
          <p:nvPr/>
        </p:nvSpPr>
        <p:spPr>
          <a:xfrm>
            <a:off x="9095328" y="2991481"/>
            <a:ext cx="2149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開発ナレッジ環境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537B6F5-E1CD-F277-7369-5B9F5A39C165}"/>
              </a:ext>
            </a:extLst>
          </p:cNvPr>
          <p:cNvSpPr txBox="1"/>
          <p:nvPr/>
        </p:nvSpPr>
        <p:spPr>
          <a:xfrm>
            <a:off x="11525250" y="6470148"/>
            <a:ext cx="6667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100" dirty="0">
                <a:solidFill>
                  <a:schemeClr val="bg1">
                    <a:lumMod val="65000"/>
                  </a:schemeClr>
                </a:solidFill>
              </a:rPr>
              <a:t>７</a:t>
            </a:r>
            <a:r>
              <a:rPr kumimoji="1" lang="en-US" altLang="ja-JP" sz="1100" dirty="0">
                <a:solidFill>
                  <a:schemeClr val="bg1">
                    <a:lumMod val="65000"/>
                  </a:schemeClr>
                </a:solidFill>
              </a:rPr>
              <a:t>/10</a:t>
            </a:r>
            <a:endParaRPr kumimoji="1" lang="ja-JP" altLang="en-US" sz="11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7EA523F6-639E-2A65-9AE8-FBEE530ACE65}"/>
              </a:ext>
            </a:extLst>
          </p:cNvPr>
          <p:cNvSpPr txBox="1"/>
          <p:nvPr/>
        </p:nvSpPr>
        <p:spPr>
          <a:xfrm>
            <a:off x="9095328" y="4384167"/>
            <a:ext cx="21497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社内ネットワークから分岐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B007BB68-74B4-3AE9-7077-8C27E22C5875}"/>
              </a:ext>
            </a:extLst>
          </p:cNvPr>
          <p:cNvSpPr txBox="1"/>
          <p:nvPr/>
        </p:nvSpPr>
        <p:spPr>
          <a:xfrm>
            <a:off x="9095328" y="5115056"/>
            <a:ext cx="2149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開発スペース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86076929-8E18-B50C-0136-941F43088D2B}"/>
              </a:ext>
            </a:extLst>
          </p:cNvPr>
          <p:cNvSpPr txBox="1"/>
          <p:nvPr/>
        </p:nvSpPr>
        <p:spPr>
          <a:xfrm>
            <a:off x="9104853" y="5644339"/>
            <a:ext cx="27537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AI</a:t>
            </a:r>
            <a:r>
              <a:rPr lang="ja-JP" altLang="en-US" dirty="0"/>
              <a:t>がタスクをこなす為の環境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144923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0C0C4E5A-7F64-9DBB-A7A5-CB22CEEF7D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913" y="383783"/>
            <a:ext cx="11162174" cy="6474217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2200C85-618F-30B8-BA5C-AAE147B75E3B}"/>
              </a:ext>
            </a:extLst>
          </p:cNvPr>
          <p:cNvSpPr txBox="1"/>
          <p:nvPr/>
        </p:nvSpPr>
        <p:spPr>
          <a:xfrm>
            <a:off x="11525250" y="6470148"/>
            <a:ext cx="6667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100" dirty="0">
                <a:solidFill>
                  <a:schemeClr val="bg1">
                    <a:lumMod val="65000"/>
                  </a:schemeClr>
                </a:solidFill>
              </a:rPr>
              <a:t>８</a:t>
            </a:r>
            <a:r>
              <a:rPr kumimoji="1" lang="en-US" altLang="ja-JP" sz="1100" dirty="0">
                <a:solidFill>
                  <a:schemeClr val="bg1">
                    <a:lumMod val="65000"/>
                  </a:schemeClr>
                </a:solidFill>
              </a:rPr>
              <a:t>/10</a:t>
            </a:r>
            <a:endParaRPr kumimoji="1" lang="ja-JP" altLang="en-US" sz="11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7FE2CD9-10BD-8FCD-84E4-BEC2DC2BB973}"/>
              </a:ext>
            </a:extLst>
          </p:cNvPr>
          <p:cNvSpPr txBox="1"/>
          <p:nvPr/>
        </p:nvSpPr>
        <p:spPr>
          <a:xfrm>
            <a:off x="84923" y="57486"/>
            <a:ext cx="618797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ja-JP" altLang="en-US" sz="2000" b="1" dirty="0">
                <a:solidFill>
                  <a:schemeClr val="accent1">
                    <a:lumMod val="5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７－</a:t>
            </a:r>
            <a:r>
              <a:rPr lang="en-US" altLang="ja-JP" sz="2000" b="1" dirty="0">
                <a:solidFill>
                  <a:schemeClr val="accent1">
                    <a:lumMod val="5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lang="ja-JP" altLang="en-US" sz="2000" b="1" dirty="0">
                <a:solidFill>
                  <a:schemeClr val="accent1">
                    <a:lumMod val="5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．</a:t>
            </a:r>
            <a:r>
              <a:rPr lang="en-US" altLang="ja-JP" sz="2000" b="1" dirty="0">
                <a:solidFill>
                  <a:schemeClr val="accent1">
                    <a:lumMod val="5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AI</a:t>
            </a:r>
            <a:r>
              <a:rPr lang="ja-JP" altLang="en-US" sz="2000" b="1" dirty="0">
                <a:solidFill>
                  <a:schemeClr val="accent1">
                    <a:lumMod val="5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コミュニケーションとワーキング全体図</a:t>
            </a:r>
            <a:endParaRPr kumimoji="1" lang="ja-JP" altLang="en-US" sz="2000" b="1" dirty="0">
              <a:solidFill>
                <a:schemeClr val="accent1">
                  <a:lumMod val="50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フリーフォーム: 図形 5">
            <a:extLst>
              <a:ext uri="{FF2B5EF4-FFF2-40B4-BE49-F238E27FC236}">
                <a16:creationId xmlns:a16="http://schemas.microsoft.com/office/drawing/2014/main" id="{605F0CC4-8942-A6ED-1A27-5F2CDF9F445A}"/>
              </a:ext>
            </a:extLst>
          </p:cNvPr>
          <p:cNvSpPr/>
          <p:nvPr/>
        </p:nvSpPr>
        <p:spPr>
          <a:xfrm>
            <a:off x="272142" y="566057"/>
            <a:ext cx="7957458" cy="3914473"/>
          </a:xfrm>
          <a:custGeom>
            <a:avLst/>
            <a:gdLst>
              <a:gd name="csX0" fmla="*/ 0 w 8229600"/>
              <a:gd name="csY0" fmla="*/ 0 h 3831772"/>
              <a:gd name="csX1" fmla="*/ 5105400 w 8229600"/>
              <a:gd name="csY1" fmla="*/ 0 h 3831772"/>
              <a:gd name="csX2" fmla="*/ 5105400 w 8229600"/>
              <a:gd name="csY2" fmla="*/ 2514600 h 3831772"/>
              <a:gd name="csX3" fmla="*/ 8229600 w 8229600"/>
              <a:gd name="csY3" fmla="*/ 2514600 h 3831772"/>
              <a:gd name="csX4" fmla="*/ 8229600 w 8229600"/>
              <a:gd name="csY4" fmla="*/ 3831772 h 3831772"/>
              <a:gd name="csX5" fmla="*/ 0 w 8229600"/>
              <a:gd name="csY5" fmla="*/ 3831772 h 3831772"/>
              <a:gd name="csX6" fmla="*/ 0 w 8229600"/>
              <a:gd name="csY6" fmla="*/ 0 h 38317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8229600" h="3831772">
                <a:moveTo>
                  <a:pt x="0" y="0"/>
                </a:moveTo>
                <a:lnTo>
                  <a:pt x="5105400" y="0"/>
                </a:lnTo>
                <a:lnTo>
                  <a:pt x="5105400" y="2514600"/>
                </a:lnTo>
                <a:lnTo>
                  <a:pt x="8229600" y="2514600"/>
                </a:lnTo>
                <a:lnTo>
                  <a:pt x="8229600" y="3831772"/>
                </a:lnTo>
                <a:lnTo>
                  <a:pt x="0" y="3831772"/>
                </a:lnTo>
                <a:lnTo>
                  <a:pt x="0" y="0"/>
                </a:lnTo>
                <a:close/>
              </a:path>
            </a:pathLst>
          </a:cu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952B67F-306B-BA07-23C5-5DD8EF740C63}"/>
              </a:ext>
            </a:extLst>
          </p:cNvPr>
          <p:cNvSpPr txBox="1"/>
          <p:nvPr/>
        </p:nvSpPr>
        <p:spPr>
          <a:xfrm>
            <a:off x="272142" y="626820"/>
            <a:ext cx="2275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b="1" dirty="0">
                <a:solidFill>
                  <a:srgbClr val="FF0000"/>
                </a:solidFill>
              </a:rPr>
              <a:t>AI</a:t>
            </a:r>
            <a:r>
              <a:rPr kumimoji="1" lang="ja-JP" altLang="en-US" sz="1200" b="1" dirty="0">
                <a:solidFill>
                  <a:srgbClr val="FF0000"/>
                </a:solidFill>
              </a:rPr>
              <a:t>コミュニケーションな環境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C26B5CC-32C9-AF17-BE7D-B3451B4C8D6B}"/>
              </a:ext>
            </a:extLst>
          </p:cNvPr>
          <p:cNvSpPr txBox="1"/>
          <p:nvPr/>
        </p:nvSpPr>
        <p:spPr>
          <a:xfrm>
            <a:off x="1572985" y="2119109"/>
            <a:ext cx="11430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>
                <a:solidFill>
                  <a:srgbClr val="FF0000"/>
                </a:solidFill>
              </a:rPr>
              <a:t>AI</a:t>
            </a:r>
            <a:r>
              <a:rPr lang="ja-JP" altLang="en-US" sz="1200" dirty="0">
                <a:solidFill>
                  <a:srgbClr val="FF0000"/>
                </a:solidFill>
              </a:rPr>
              <a:t>が開発理解</a:t>
            </a:r>
            <a:endParaRPr kumimoji="1" lang="ja-JP" altLang="en-US" sz="1200" dirty="0">
              <a:solidFill>
                <a:srgbClr val="FF0000"/>
              </a:solidFill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20A04FC-0F24-E18D-63F6-C64427CD1CF4}"/>
              </a:ext>
            </a:extLst>
          </p:cNvPr>
          <p:cNvSpPr txBox="1"/>
          <p:nvPr/>
        </p:nvSpPr>
        <p:spPr>
          <a:xfrm>
            <a:off x="1817913" y="1133455"/>
            <a:ext cx="11430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dirty="0"/>
              <a:t>開発検討</a:t>
            </a:r>
            <a:endParaRPr kumimoji="1" lang="ja-JP" altLang="en-US" sz="12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7C579B9-88FE-EF00-66BC-C2451B100280}"/>
              </a:ext>
            </a:extLst>
          </p:cNvPr>
          <p:cNvSpPr txBox="1"/>
          <p:nvPr/>
        </p:nvSpPr>
        <p:spPr>
          <a:xfrm>
            <a:off x="4386942" y="3149200"/>
            <a:ext cx="11430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>
                <a:solidFill>
                  <a:srgbClr val="FF0000"/>
                </a:solidFill>
              </a:rPr>
              <a:t>AI</a:t>
            </a:r>
            <a:r>
              <a:rPr lang="ja-JP" altLang="en-US" sz="1200" dirty="0">
                <a:solidFill>
                  <a:srgbClr val="FF0000"/>
                </a:solidFill>
              </a:rPr>
              <a:t>がノウハウ</a:t>
            </a:r>
            <a:endParaRPr lang="en-US" altLang="ja-JP" sz="1200" dirty="0">
              <a:solidFill>
                <a:srgbClr val="FF0000"/>
              </a:solidFill>
            </a:endParaRPr>
          </a:p>
          <a:p>
            <a:r>
              <a:rPr kumimoji="1" lang="ja-JP" altLang="en-US" sz="1200" dirty="0">
                <a:solidFill>
                  <a:srgbClr val="FF0000"/>
                </a:solidFill>
              </a:rPr>
              <a:t>を自動記録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D77A0EF-829B-C74E-B16D-2580163C1135}"/>
              </a:ext>
            </a:extLst>
          </p:cNvPr>
          <p:cNvSpPr txBox="1"/>
          <p:nvPr/>
        </p:nvSpPr>
        <p:spPr>
          <a:xfrm>
            <a:off x="3146250" y="1632866"/>
            <a:ext cx="21006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dirty="0">
                <a:solidFill>
                  <a:srgbClr val="FF0000"/>
                </a:solidFill>
              </a:rPr>
              <a:t>承認後　　システム</a:t>
            </a:r>
            <a:r>
              <a:rPr kumimoji="1" lang="ja-JP" altLang="en-US" sz="1200" dirty="0">
                <a:solidFill>
                  <a:srgbClr val="FF0000"/>
                </a:solidFill>
              </a:rPr>
              <a:t>開発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18F698E9-BC97-5F1E-50C5-E9CFFCEBE890}"/>
              </a:ext>
            </a:extLst>
          </p:cNvPr>
          <p:cNvSpPr/>
          <p:nvPr/>
        </p:nvSpPr>
        <p:spPr>
          <a:xfrm>
            <a:off x="2715987" y="4532570"/>
            <a:ext cx="7734299" cy="2303657"/>
          </a:xfrm>
          <a:prstGeom prst="rect">
            <a:avLst/>
          </a:prstGeom>
          <a:noFill/>
          <a:ln w="31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2452B1E-3381-21AC-974A-6C5A016E4D32}"/>
              </a:ext>
            </a:extLst>
          </p:cNvPr>
          <p:cNvSpPr txBox="1"/>
          <p:nvPr/>
        </p:nvSpPr>
        <p:spPr>
          <a:xfrm>
            <a:off x="2971798" y="6431615"/>
            <a:ext cx="2275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b="1" dirty="0">
                <a:solidFill>
                  <a:srgbClr val="00B050"/>
                </a:solidFill>
              </a:rPr>
              <a:t>承認プロセス</a:t>
            </a:r>
            <a:endParaRPr kumimoji="1" lang="ja-JP" altLang="en-US" sz="1200" b="1" dirty="0">
              <a:solidFill>
                <a:srgbClr val="00B050"/>
              </a:solidFill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3C22A5CA-984C-DAB2-BC09-967028D5D19F}"/>
              </a:ext>
            </a:extLst>
          </p:cNvPr>
          <p:cNvSpPr txBox="1"/>
          <p:nvPr/>
        </p:nvSpPr>
        <p:spPr>
          <a:xfrm>
            <a:off x="10608646" y="626820"/>
            <a:ext cx="2275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b="1" dirty="0">
                <a:solidFill>
                  <a:srgbClr val="0000FF"/>
                </a:solidFill>
              </a:rPr>
              <a:t>現場実装～浸透</a:t>
            </a:r>
          </a:p>
        </p:txBody>
      </p:sp>
      <p:sp>
        <p:nvSpPr>
          <p:cNvPr id="20" name="フリーフォーム: 図形 19">
            <a:extLst>
              <a:ext uri="{FF2B5EF4-FFF2-40B4-BE49-F238E27FC236}">
                <a16:creationId xmlns:a16="http://schemas.microsoft.com/office/drawing/2014/main" id="{5CC7D74B-4EC4-1AFD-1560-08DFFA4613F0}"/>
              </a:ext>
            </a:extLst>
          </p:cNvPr>
          <p:cNvSpPr/>
          <p:nvPr/>
        </p:nvSpPr>
        <p:spPr>
          <a:xfrm>
            <a:off x="5316030" y="544286"/>
            <a:ext cx="6618514" cy="3897085"/>
          </a:xfrm>
          <a:custGeom>
            <a:avLst/>
            <a:gdLst>
              <a:gd name="csX0" fmla="*/ 0 w 6618514"/>
              <a:gd name="csY0" fmla="*/ 21771 h 3897085"/>
              <a:gd name="csX1" fmla="*/ 0 w 6618514"/>
              <a:gd name="csY1" fmla="*/ 3897085 h 3897085"/>
              <a:gd name="csX2" fmla="*/ 6618514 w 6618514"/>
              <a:gd name="csY2" fmla="*/ 3897085 h 3897085"/>
              <a:gd name="csX3" fmla="*/ 6618514 w 6618514"/>
              <a:gd name="csY3" fmla="*/ 0 h 3897085"/>
              <a:gd name="csX4" fmla="*/ 0 w 6618514"/>
              <a:gd name="csY4" fmla="*/ 21771 h 38970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618514" h="3897085">
                <a:moveTo>
                  <a:pt x="0" y="21771"/>
                </a:moveTo>
                <a:lnTo>
                  <a:pt x="0" y="3897085"/>
                </a:lnTo>
                <a:lnTo>
                  <a:pt x="6618514" y="3897085"/>
                </a:lnTo>
                <a:lnTo>
                  <a:pt x="6618514" y="0"/>
                </a:lnTo>
                <a:lnTo>
                  <a:pt x="0" y="21771"/>
                </a:lnTo>
                <a:close/>
              </a:path>
            </a:pathLst>
          </a:custGeom>
          <a:noFill/>
          <a:ln w="3175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FA3B5EA8-CBA9-D953-5212-5F2F47E11DED}"/>
              </a:ext>
            </a:extLst>
          </p:cNvPr>
          <p:cNvSpPr txBox="1"/>
          <p:nvPr/>
        </p:nvSpPr>
        <p:spPr>
          <a:xfrm>
            <a:off x="6695789" y="2872201"/>
            <a:ext cx="21717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回答精度向上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B7B80E93-1388-8E01-8C1A-7EE5E4BB743A}"/>
              </a:ext>
            </a:extLst>
          </p:cNvPr>
          <p:cNvSpPr txBox="1"/>
          <p:nvPr/>
        </p:nvSpPr>
        <p:spPr>
          <a:xfrm>
            <a:off x="6717560" y="1632866"/>
            <a:ext cx="21717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出力品質向上</a:t>
            </a:r>
          </a:p>
        </p:txBody>
      </p:sp>
    </p:spTree>
    <p:extLst>
      <p:ext uri="{BB962C8B-B14F-4D97-AF65-F5344CB8AC3E}">
        <p14:creationId xmlns:p14="http://schemas.microsoft.com/office/powerpoint/2010/main" val="2474090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40F7728-8703-7E2E-7667-AF1CF1635DE4}"/>
              </a:ext>
            </a:extLst>
          </p:cNvPr>
          <p:cNvSpPr txBox="1"/>
          <p:nvPr/>
        </p:nvSpPr>
        <p:spPr>
          <a:xfrm>
            <a:off x="193780" y="176004"/>
            <a:ext cx="2561529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2000" b="1" dirty="0">
                <a:solidFill>
                  <a:schemeClr val="accent1">
                    <a:lumMod val="5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８．ワーキング予算</a:t>
            </a:r>
            <a:endParaRPr kumimoji="1" lang="ja-JP" altLang="en-US" sz="2000" b="1" dirty="0">
              <a:solidFill>
                <a:schemeClr val="accent1">
                  <a:lumMod val="50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851F9725-FF15-C8E2-7F66-CECC200C39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390" y="176004"/>
            <a:ext cx="8480242" cy="3101668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488BBA57-0907-A858-E75C-D84F2BAFB8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225"/>
          <a:stretch>
            <a:fillRect/>
          </a:stretch>
        </p:blipFill>
        <p:spPr>
          <a:xfrm>
            <a:off x="4091360" y="3429000"/>
            <a:ext cx="7416641" cy="2788919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94736343-3046-99F9-39D4-47415583A0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798" t="74775"/>
          <a:stretch>
            <a:fillRect/>
          </a:stretch>
        </p:blipFill>
        <p:spPr>
          <a:xfrm>
            <a:off x="289107" y="4832796"/>
            <a:ext cx="3574556" cy="903209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4BAE8BE0-7393-FFF9-4603-6C0711A51F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586" r="50298"/>
          <a:stretch>
            <a:fillRect/>
          </a:stretch>
        </p:blipFill>
        <p:spPr>
          <a:xfrm>
            <a:off x="289107" y="3876541"/>
            <a:ext cx="3578073" cy="956255"/>
          </a:xfrm>
          <a:prstGeom prst="rect">
            <a:avLst/>
          </a:prstGeom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1785046-F0DE-8288-52FD-CEA72EE7D02D}"/>
              </a:ext>
            </a:extLst>
          </p:cNvPr>
          <p:cNvSpPr txBox="1"/>
          <p:nvPr/>
        </p:nvSpPr>
        <p:spPr>
          <a:xfrm>
            <a:off x="11508001" y="6482848"/>
            <a:ext cx="6667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100" dirty="0">
                <a:solidFill>
                  <a:schemeClr val="bg1">
                    <a:lumMod val="65000"/>
                  </a:schemeClr>
                </a:solidFill>
              </a:rPr>
              <a:t>9</a:t>
            </a:r>
            <a:r>
              <a:rPr kumimoji="1" lang="en-US" altLang="ja-JP" sz="1100" dirty="0">
                <a:solidFill>
                  <a:schemeClr val="bg1">
                    <a:lumMod val="65000"/>
                  </a:schemeClr>
                </a:solidFill>
              </a:rPr>
              <a:t>/10</a:t>
            </a:r>
            <a:endParaRPr kumimoji="1" lang="ja-JP" altLang="en-US" sz="11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46316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C0BB75E1-7C0B-0F32-0BA9-C3D0FBFE45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86" y="130043"/>
            <a:ext cx="11946919" cy="6727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096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725</TotalTime>
  <Words>332</Words>
  <Application>Microsoft Office PowerPoint</Application>
  <PresentationFormat>ワイド画面</PresentationFormat>
  <Paragraphs>54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20" baseType="lpstr">
      <vt:lpstr>AR P丸ゴシック体E</vt:lpstr>
      <vt:lpstr>BIZ UDPゴシック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安部 裕貴</dc:creator>
  <cp:lastModifiedBy>安部 裕貴</cp:lastModifiedBy>
  <cp:revision>18</cp:revision>
  <dcterms:created xsi:type="dcterms:W3CDTF">2026-08-27T08:28:28Z</dcterms:created>
  <dcterms:modified xsi:type="dcterms:W3CDTF">2026-09-04T01:41:02Z</dcterms:modified>
</cp:coreProperties>
</file>